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05840"/>
            <a:ext cx="2103120" cy="765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031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7825"/>
                </a:solidFill>
                <a:latin typeface="Arial"/>
              </a:defRPr>
            </a:pPr>
            <a:r>
              <a:t>EXECUTIVE BRIEFING &amp; CLINICAL WORKFLOW TRANSFORMATION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ระบบสนับสนุนการทำงานและการเฝ้าระวัง</a:t>
            </a:r>
            <a:br/>
            <a:r>
              <a:t>สัญญาณเตือนภาวะวิกฤตล่วงหน้า (Clinical EWS)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Vejthani Clinical EWS &amp; Inpatient Nursing Workflow Support | ครอบคลุม 6 ศูนย์ความเป็นเลิศทางการแพทย์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2468880" cy="1005840"/>
          </a:xfrm>
          <a:prstGeom prst="roundRect">
            <a:avLst/>
          </a:prstGeom>
          <a:solidFill>
            <a:srgbClr val="07192F"/>
          </a:solidFill>
          <a:ln w="127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b="1" sz="1200">
                <a:solidFill>
                  <a:srgbClr val="EC7825"/>
                </a:solidFill>
              </a:defRPr>
            </a:pPr>
            <a:r>
              <a:t>⚡ 1-Click ISBAR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ลดเวลาส่งเวรเหลือ 2 วินาที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5303520"/>
            <a:ext cx="2468880" cy="1005840"/>
          </a:xfrm>
          <a:prstGeom prst="roundRect">
            <a:avLst/>
          </a:prstGeom>
          <a:solidFill>
            <a:srgbClr val="07192F"/>
          </a:solidFill>
          <a:ln w="127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b="1" sz="1200">
                <a:solidFill>
                  <a:srgbClr val="EC7825"/>
                </a:solidFill>
              </a:defRPr>
            </a:pPr>
            <a:r>
              <a:t>🛡️ JCI IPSG.2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บันได 4 ขั้น ตอบสนอง ≤ 3 นาที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303520"/>
            <a:ext cx="2468880" cy="1005840"/>
          </a:xfrm>
          <a:prstGeom prst="roundRect">
            <a:avLst/>
          </a:prstGeom>
          <a:solidFill>
            <a:srgbClr val="07192F"/>
          </a:solidFill>
          <a:ln w="127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b="1" sz="1200">
                <a:solidFill>
                  <a:srgbClr val="EC7825"/>
                </a:solidFill>
              </a:defRPr>
            </a:pPr>
            <a:r>
              <a:t>🔇 Alarm Fatigue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ลดเสียงเตือนรบกวน 40%-60%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5303520"/>
            <a:ext cx="2468880" cy="1005840"/>
          </a:xfrm>
          <a:prstGeom prst="roundRect">
            <a:avLst/>
          </a:prstGeom>
          <a:solidFill>
            <a:srgbClr val="07192F"/>
          </a:solidFill>
          <a:ln w="127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b="1" sz="1200">
                <a:solidFill>
                  <a:srgbClr val="EC7825"/>
                </a:solidFill>
              </a:defRPr>
            </a:pPr>
            <a:r>
              <a:t>🔒 PDPA Zero-Leakage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Local-First ปลอดภัย 100%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ปัญหาและความท้าทายในหอผู้ป่วยใน (Current Clinical Challenges)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2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60120" lIns="182880" rIns="182880"/>
          <a:lstStyle/>
          <a:p>
            <a:pPr algn="ctr">
              <a:lnSpc>
                <a:spcPct val="130000"/>
              </a:lnSpc>
              <a:defRPr sz="1200">
                <a:solidFill>
                  <a:srgbClr val="1E293B"/>
                </a:solidFill>
              </a:defRPr>
            </a:pPr>
            <a:r>
              <a:t>• ข้อมูลสัญญาณชีพถูกบันทึกในระบบ EHR (TrakCare) แต่ขาดระบบคำนวณคะแนน EWS และแจ้งเตือนข้างเตียงแบบ Real-time</a:t>
            </a:r>
            <a:br/>
            <a:r>
              <a:t>• พยาบาลต้องจำเกณฑ์เตือนและบวกเลขเอง เสี่ยงต่อความผิดพลาดในเวรที่มีภาระงานสูง</a:t>
            </a:r>
            <a:br/>
            <a:r>
              <a:t>• ขาดระบบจับเวลาตามมาตรฐานสากล JCI IPSG.2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290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1. ช่องว่างบันทึกสู่การปฏิบัติ</a:t>
            </a:r>
            <a:br/>
            <a:r>
              <a:t>(Documentation-to-Action Gap)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60120" lIns="182880" rIns="182880"/>
          <a:lstStyle/>
          <a:p>
            <a:pPr algn="ctr">
              <a:lnSpc>
                <a:spcPct val="130000"/>
              </a:lnSpc>
              <a:defRPr sz="1200">
                <a:solidFill>
                  <a:srgbClr val="1E293B"/>
                </a:solidFill>
              </a:defRPr>
            </a:pPr>
            <a:r>
              <a:t>• พยาบาลใช้เวลาเฉลี่ย 30–45 นาที/คน ในการสรุปประวัติ สัญญาณชีพ และแผนการรักษาเพื่อส่งเวร</a:t>
            </a:r>
            <a:br/>
            <a:r>
              <a:t>• เสียเวลาในการดูแลผู้ป่วยข้างเตียงรวมกว่า 2.5–3 ชั่วโมง/วอร์ด/วัน</a:t>
            </a:r>
            <a:br/>
            <a:r>
              <a:t>• รูปแบบการส่งมอบเวรไม่สม่ำเสมอ ข้อมูลสำคัญตกหล่นตอนผลัดเปลี่ยนเวร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429000" cy="868680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2. ภาระงานส่งเวรพยาบาล</a:t>
            </a:r>
            <a:br/>
            <a:r>
              <a:t>(Shift Handover Overhead)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60120" lIns="182880" rIns="182880"/>
          <a:lstStyle/>
          <a:p>
            <a:pPr algn="ctr">
              <a:lnSpc>
                <a:spcPct val="130000"/>
              </a:lnSpc>
              <a:defRPr sz="1200">
                <a:solidFill>
                  <a:srgbClr val="1E293B"/>
                </a:solidFill>
              </a:defRPr>
            </a:pPr>
            <a:r>
              <a:t>• เสียงเตือนบ่อยครั้งโดยที่อาการผู้ป่วยไม่เปลี่ยนแปลง ทำให้เกิดความเคยชินและเพิกเฉยต่อสัญญาณเตือน</a:t>
            </a:r>
            <a:br/>
            <a:r>
              <a:t>• การศึกษาระบุว่ากว่า 70% ของสัญญาณเตือนในวอร์ดเป็น Non-Actionable Alarm</a:t>
            </a:r>
            <a:br/>
            <a:r>
              <a:t>• เสี่ยงต่อการตรวจพบผู้ป่วยทรุดลงล่าช้า (Failure to Rescue)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429000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3. ความล้าจากสัญญาณเตือนรบกวน</a:t>
            </a:r>
            <a:br/>
            <a:r>
              <a:t>(Alarm Fatigue &amp; Burnout)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เสาหลักการปฏิรูป 4 ด้าน (4 Pillars of Transformation)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3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เสาหลักที่ 1: Real-Time Scoring — </a:t>
            </a:r>
            <a:r>
              <a:rPr b="1">
                <a:solidFill>
                  <a:srgbClr val="1E293B"/>
                </a:solidFill>
              </a:rPr>
              <a:t>คำนวณคะแนน EWS อัตโนมัติ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NEWS2 สำหรับผู้ใหญ่ และ PEWS 4 ช่วงอายุสำหรับเด็ก คำนวณแบบ Real-time ทันทีที่ลงผลตรวจ พร้อมระบบตรวจจับความผิดปกติสุดโต่ง (Single-Param=3)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8288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b="1" sz="1400">
                <a:solidFill>
                  <a:srgbClr val="EC7825"/>
                </a:solidFill>
              </a:defRPr>
            </a:pPr>
            <a:r>
              <a:t>เสาหลักที่ 2: 1-Click ISBAR — </a:t>
            </a:r>
            <a:r>
              <a:rPr b="1">
                <a:solidFill>
                  <a:srgbClr val="1E293B"/>
                </a:solidFill>
              </a:rPr>
              <a:t>ลดเวลาส่งเวรเหลือ 2 วินาที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คลิกปุ่มเดียว ระบบรวบรวม Vitals, EWS, ศูนย์รักษา, แพทย์เจ้าของไข้ และ Action Plan ออกมาเป็นข้อความโครงสร้างทางการพยาบาล พร้อมวางใน TrakCare/LINE ทันที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182880" cy="1005840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b="1" sz="1400">
                <a:solidFill>
                  <a:srgbClr val="0B2545"/>
                </a:solidFill>
              </a:defRPr>
            </a:pPr>
            <a:r>
              <a:t>เสาหลักที่ 3: JCI Escalation — </a:t>
            </a:r>
            <a:r>
              <a:rPr b="1">
                <a:solidFill>
                  <a:srgbClr val="1E293B"/>
                </a:solidFill>
              </a:rPr>
              <a:t>บันไดตอบสนอง 4 ขั้นตาม SLA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กำหนดขั้นตอนและเวลาตอบสนองวิกฤตชัดเจน (Primary Nurse ≤3m → In-Charge ≤2m → Specialist/RRT ≤10m → ICU ≤30m) สอดรับมาตรฐาน JCI IPSG.2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8288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b="1" sz="1400">
                <a:solidFill>
                  <a:srgbClr val="7C3AED"/>
                </a:solidFill>
              </a:defRPr>
            </a:pPr>
            <a:r>
              <a:t>เสาหลักที่ 4: Suppression Engine — </a:t>
            </a:r>
            <a:r>
              <a:rPr b="1">
                <a:solidFill>
                  <a:srgbClr val="1E293B"/>
                </a:solidFill>
              </a:rPr>
              <a:t>ลดเสียงเตือนรบกวน 40%-60%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หน่วงเวลาเตือนซ้ำ 60 นาทีสำหรับเตียงที่คงที่ พร้อมระบบ Delta Score Bypass (+2) ปลดล็อกแจ้งเตือนสีแดงทันทีเมื่อคะแนนทรุดลง รับประกัน Zero Missed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66360"/>
            <a:ext cx="18288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ผลลัพธ์เชิงประจักษ์และความคุ้มค่าสำหรับผู้บริหาร (Executive ROI)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4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2400" b="1">
                <a:solidFill>
                  <a:srgbClr val="EC7825"/>
                </a:solidFill>
              </a:defRPr>
            </a:pPr>
            <a:r>
              <a:t>2.5 ชม./วอร์ด/วัน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เวลาส่งเวรที่ประหยัดได้</a:t>
            </a:r>
          </a:p>
          <a:p>
            <a:pPr algn="ctr"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 algn="l">
              <a:lnSpc>
                <a:spcPct val="130000"/>
              </a:lnSpc>
              <a:defRPr sz="1150">
                <a:solidFill>
                  <a:srgbClr val="64748B"/>
                </a:solidFill>
              </a:defRPr>
            </a:pPr>
            <a:r>
              <a:t>จาก 45 นาที/คน เหลือ 2 วินาที ด้วย 1-Click ISBAR เพิ่มเวลาดูแลคนไข้ข้างเตียง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100%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JCI IPSG.2 Compliance</a:t>
            </a:r>
          </a:p>
          <a:p>
            <a:pPr algn="ctr"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 algn="l">
              <a:lnSpc>
                <a:spcPct val="130000"/>
              </a:lnSpc>
              <a:defRPr sz="1150">
                <a:solidFill>
                  <a:srgbClr val="64748B"/>
                </a:solidFill>
              </a:defRPr>
            </a:pPr>
            <a:r>
              <a:t>ปิดช่องว่างการส่งต่อข้อมูล มีระบบจับเวลา SLA และ Audit Trail ตรวจสอบย้อนหลังได้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40% - 60%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ลดสัญญาณเตือนรบกวน</a:t>
            </a:r>
          </a:p>
          <a:p>
            <a:pPr algn="ctr"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 algn="l">
              <a:lnSpc>
                <a:spcPct val="130000"/>
              </a:lnSpc>
              <a:defRPr sz="1150">
                <a:solidFill>
                  <a:srgbClr val="64748B"/>
                </a:solidFill>
              </a:defRPr>
            </a:pPr>
            <a:r>
              <a:t>Suppression Window หน่วงเตือนซ้ำ ลดความล้าพยาบาลอย่างมีนัยสำคัญ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56032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0%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Missed Critical Rate</a:t>
            </a:r>
          </a:p>
          <a:p>
            <a:pPr algn="ctr"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 algn="l">
              <a:lnSpc>
                <a:spcPct val="130000"/>
              </a:lnSpc>
              <a:defRPr sz="1150">
                <a:solidFill>
                  <a:srgbClr val="64748B"/>
                </a:solidFill>
              </a:defRPr>
            </a:pPr>
            <a:r>
              <a:t>Delta Score Bypass (+2) &amp; Single Param=3 ป้องกันการตกหล่นของเคสวิกฤต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เกณฑ์การตรวจจับวิกฤตเฉพาะ 6 ศูนย์ความเป็นเลิศ (Clinical Criteria)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5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1. กระดูกและข้อ / กระดูกสันหลัง</a:t>
            </a:r>
            <a:br/>
            <a:r>
              <a:t>(King of Bones &amp; Spine)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Shock Index ≥ 0.90 (ภาวะช็อกจากการเสียเลือด)</a:t>
            </a:r>
            <a:br/>
            <a:r>
              <a:t>• เลือดออกสายเดรน &gt; 100 ml/hr</a:t>
            </a:r>
            <a:br/>
            <a:r>
              <a:t>• ชีพจรเร็ว (HR&gt;110) ร่วมกับปวดรุนแรง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จัดท่านอนราบ ยกขาสูง, รายงานศัลยแพทย์กระดูก, IV Fluid Load, ตรวจ Hct Stat, จองเลือด PRC 2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2. หัวใจและหลอดเลือด</a:t>
            </a:r>
            <a:br/>
            <a:r>
              <a:t>(Heart Center / CCU)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Malignant Arrhythmia: HR&gt;130 หรือ HR&lt;40</a:t>
            </a:r>
            <a:br/>
            <a:r>
              <a:t>• อาการแน่นหน้าอกรุนแรง (Pain Score ≥ 7)</a:t>
            </a:r>
            <a:br/>
            <a:r>
              <a:t>• ความดันซิสโตลิกตกเฉียบพลัน ≥ 30 mmHg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ติด EKG 12 Leads ทันทีใน 5 นาที, ให้ออกซิเจน Cannula รักษาระดับ SpO2 ≥ 95%, รายงานอายุรแพทย์หัวใจ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3. กุมารเวชกรรม</a:t>
            </a:r>
            <a:br/>
            <a:r>
              <a:t>(Pediatric Center - PEWS)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จำแนก 4 ช่วงอายุ (&lt;1y, 1-4y, 5-11y, 12-15y)</a:t>
            </a:r>
            <a:br/>
            <a:r>
              <a:t>• Capillary Refill Time (CRT) &gt; 3 วินาที</a:t>
            </a:r>
            <a:br/>
            <a:r>
              <a:t>• สัญญาณ Severe Retraction / Grunting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ประเมินทางเดินหายใจ ดูดเสมหะ, ให้ออกซิเจน Mask, รายงานกุมารแพทย์เวรด่วน, เตรียมชุดกู้ชีพเด็ก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4. ระบบประสาทและสมอง</a:t>
            </a:r>
            <a:br/>
            <a:r>
              <a:t>(Neuroscience Center)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GCS Drop ≥ 2 คะแนน หรือระดับ AVPU เปลี่ยน</a:t>
            </a:r>
            <a:br/>
            <a:r>
              <a:t>• รูม่านตาไม่เท่ากัน (Anisocoria &gt; 1 mm)</a:t>
            </a:r>
            <a:br/>
            <a:r>
              <a:t>• สัญญาณ Cushing's Triad (BP สูง + ชีพจรช้า)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จัดท่านอนศีรษะสูง 30 องศา, วัด DTX Stat ตัดภาวะน้ำตาลต่ำ, รายงานแพทย์ประสาทศัลยศาสตร์, CT Brain ด่วน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77639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5. ศัลยกรรมและทางเดินอาหาร</a:t>
            </a:r>
            <a:br/>
            <a:r>
              <a:t>(Surgery &amp; GI Center)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สัญญาณเตือน Sepsis: ไข้&gt;38.3 + RR&gt;22 + HR&gt;100</a:t>
            </a:r>
            <a:br/>
            <a:r>
              <a:t>• ปวดท้องเกร็งรุนแรง (Acute Abdomen / Rebound)</a:t>
            </a:r>
            <a:br/>
            <a:r>
              <a:t>• น้ำดีหรือเลือดออกสายระบายผิดปกติ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งดน้ำและอาหาร (NPO), ส่งตรวจ CBC, Blood Culture 2 Hemoculture, ให้ IV Crystalloid 30 ml/kg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77639"/>
            <a:ext cx="34290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100">
                <a:solidFill>
                  <a:srgbClr val="0B2545"/>
                </a:solidFill>
              </a:defRPr>
            </a:pPr>
            <a:r>
              <a:t>6. มะเร็ง</a:t>
            </a:r>
            <a:br/>
            <a:r>
              <a:t>(Cancer Center)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Neutropenic Fever: อุณหภูมิ ≥ 38.0°C ในผู้ป่วยเคมีฯ</a:t>
            </a:r>
            <a:br/>
            <a:r>
              <a:t>• หนาวสั่นสะท้าน (Chills/Rigor) ร่วมกับ SpO2 &lt; 94%</a:t>
            </a:r>
            <a:br/>
            <a:r>
              <a:t>• จุดจ้ำเลือดออกผิดปกติ (Petechiae)</a:t>
            </a:r>
          </a:p>
          <a:p>
            <a:pPr>
              <a:defRPr sz="850" i="1">
                <a:solidFill>
                  <a:srgbClr val="0D9488"/>
                </a:solidFill>
              </a:defRPr>
            </a:pPr>
            <a:r>
              <a:t>Action: แยกห้องเดี่ยว (Reverse Isolation), สวม Mask, รายงานแพทย์มะเร็งวิทยา, เริ่มยาฆ่าเชื้อ IV ภายใน 1 ชม.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การปฏิบัติงานบนเคาน์เตอร์พยาบาล (Desktop &amp; Nurse Station View)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6 จาก 12</a:t>
            </a:r>
          </a:p>
        </p:txBody>
      </p:sp>
      <p:pic>
        <p:nvPicPr>
          <p:cNvPr id="6" name="Picture 5" descr="screen_desktop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58368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45920"/>
            <a:ext cx="387065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500">
                <a:solidFill>
                  <a:srgbClr val="0B2545"/>
                </a:solidFill>
              </a:defRPr>
            </a:pPr>
            <a:r>
              <a:t>จุดเด่นหน้าจอเคาน์เตอร์พยาบาล</a:t>
            </a:r>
          </a:p>
          <a:p>
            <a:pPr>
              <a:defRPr b="1" sz="1100">
                <a:solidFill>
                  <a:srgbClr val="EC7825"/>
                </a:solidFill>
              </a:defRPr>
            </a:pPr>
            <a:r>
              <a:t>1. แถบตัวกรอง 6 ศูนย์เฉพาะทาง: </a:t>
            </a:r>
            <a:r>
              <a:rPr b="0">
                <a:solidFill>
                  <a:srgbClr val="1E293B"/>
                </a:solidFill>
              </a:rPr>
              <a:t>คลิกเลือกศูนย์เพื่อกรองดูเฉพาะกลุ่มผู้ป่วยที่ดูแล หรือดูภาพรวมทั้งหอผู้ป่วย 12 เตียง</a:t>
            </a:r>
          </a:p>
          <a:p>
            <a:pPr>
              <a:defRPr b="1" sz="1100">
                <a:solidFill>
                  <a:srgbClr val="EC7825"/>
                </a:solidFill>
              </a:defRPr>
            </a:pPr>
            <a:r>
              <a:t>2. การ์ดสถานะเตียงรหัสสี JCI: </a:t>
            </a:r>
            <a:r>
              <a:rPr b="0">
                <a:solidFill>
                  <a:srgbClr val="1E293B"/>
                </a:solidFill>
              </a:rPr>
              <a:t>🟢 เขียว (EWS 0-2), 🟡 เหลือง (EWS 3-4), 🟠 ส้ม (EWS 5-6), 🔴 แดง (EWS ≥7 / Single Param=3)</a:t>
            </a:r>
          </a:p>
          <a:p>
            <a:pPr>
              <a:defRPr b="1" sz="1100">
                <a:solidFill>
                  <a:srgbClr val="EC7825"/>
                </a:solidFill>
              </a:defRPr>
            </a:pPr>
            <a:r>
              <a:t>3. ชิปเตือนภาวะวิกฤตเฉพาะโรค: </a:t>
            </a:r>
            <a:r>
              <a:rPr b="0">
                <a:solidFill>
                  <a:srgbClr val="1E293B"/>
                </a:solidFill>
              </a:rPr>
              <a:t>แสดงข้อความเตือนอัตโนมัติ เช่น [Spine] Shock Index = 1.10 ทราบสาเหตุทันทีไม่ต้องเปิดชาร์ต</a:t>
            </a:r>
          </a:p>
          <a:p>
            <a:pPr>
              <a:defRPr b="1" sz="1100">
                <a:solidFill>
                  <a:srgbClr val="EC7825"/>
                </a:solidFill>
              </a:defRPr>
            </a:pPr>
            <a:r>
              <a:t>4. สถิติ KPI ภาพรวมเวร: </a:t>
            </a:r>
            <a:r>
              <a:rPr b="0">
                <a:solidFill>
                  <a:srgbClr val="1E293B"/>
                </a:solidFill>
              </a:rPr>
              <a:t>แสดงจำนวนเตียงวิกฤต อัตราความสอดคล้องต่อ Protocol และเวลาตรวจซ้ำมัธยฐานแบบ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การปฏิบัติงานข้างเตียงผ่านสมาร์ตโฟน (Mobile &amp; Bedside Round)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7 จาก 12</a:t>
            </a:r>
          </a:p>
        </p:txBody>
      </p:sp>
      <p:pic>
        <p:nvPicPr>
          <p:cNvPr id="6" name="Picture 5" descr="screen_mobil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2926080" cy="6498454"/>
          </a:xfrm>
          <a:prstGeom prst="rect">
            <a:avLst/>
          </a:prstGeom>
        </p:spPr>
      </p:pic>
      <p:pic>
        <p:nvPicPr>
          <p:cNvPr id="7" name="Picture 6" descr="screen_mobile_b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45920"/>
            <a:ext cx="2926080" cy="99429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500">
                <a:solidFill>
                  <a:srgbClr val="EC7825"/>
                </a:solidFill>
              </a:defRPr>
            </a:pPr>
            <a:r>
              <a:t>ความคล่องตัวข้างเตียงผู้ป่วย (Point-of-Care)</a:t>
            </a:r>
          </a:p>
          <a:p>
            <a:pPr>
              <a:defRPr b="1" sz="1150">
                <a:solidFill>
                  <a:srgbClr val="0B2545"/>
                </a:solidFill>
              </a:defRPr>
            </a:pPr>
            <a:r>
              <a:t>📱 1. Mobile-First Responsive:</a:t>
            </a:r>
            <a:br/>
            <a:r>
              <a:rPr b="0">
                <a:solidFill>
                  <a:srgbClr val="1E293B"/>
                </a:solidFill>
              </a:rPr>
              <a:t>ออกแบบให้แสดงผลคมชัดบน iPhone และ Android ใช้งานสะดวกด้วยนิ้วโป้งข้างเดียวขณะยืนข้างเตียง</a:t>
            </a:r>
          </a:p>
          <a:p>
            <a:pPr>
              <a:defRPr b="1" sz="1150">
                <a:solidFill>
                  <a:srgbClr val="0B2545"/>
                </a:solidFill>
              </a:defRPr>
            </a:pPr>
            <a:r>
              <a:t>🔍 2. ตรวจสอบสัญญาณชีพข้างเตียง:</a:t>
            </a:r>
            <a:br/>
            <a:r>
              <a:rPr b="0">
                <a:solidFill>
                  <a:srgbClr val="1E293B"/>
                </a:solidFill>
              </a:rPr>
              <a:t>อ่านค่า SpO2, ความดัน, อุณหภูมิ และระดับความเสี่ยงได้ทันที ไม่ต้องเดินกลับไปเคาน์เตอร์</a:t>
            </a:r>
          </a:p>
          <a:p>
            <a:pPr>
              <a:defRPr b="1" sz="1150">
                <a:solidFill>
                  <a:srgbClr val="0B2545"/>
                </a:solidFill>
              </a:defRPr>
            </a:pPr>
            <a:r>
              <a:t>⚡ 3. ปุ่มกดส่งต่อ 📋 ISBAR ด่วน:</a:t>
            </a:r>
            <a:br/>
            <a:r>
              <a:rPr b="0">
                <a:solidFill>
                  <a:srgbClr val="1E293B"/>
                </a:solidFill>
              </a:rPr>
              <a:t>แตะปุ่ม ISBAR บนการ์ดเตียง ระบบคัดลอกข้อความสรุปเคสลง Clipboard ทันที</a:t>
            </a:r>
          </a:p>
          <a:p>
            <a:pPr>
              <a:defRPr b="1" sz="1150">
                <a:solidFill>
                  <a:srgbClr val="0B2545"/>
                </a:solidFill>
              </a:defRPr>
            </a:pPr>
            <a:r>
              <a:t>💬 4. ส่งเข้า LINE หรือโทรหาแพทย์:</a:t>
            </a:r>
            <a:br/>
            <a:r>
              <a:rPr b="0">
                <a:solidFill>
                  <a:srgbClr val="1E293B"/>
                </a:solidFill>
              </a:rPr>
              <a:t>สลับไปแอป LINE แล้ว Paste ข้อความส่งรายงานแพทย์เฉพาะทางได้ภายใน 2 วินาที สอดคล้องตามมาตรฐาน JCI IPSG.2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นวัตกรรมการส่งเวร: 1-Click ISBAR Handover (จาก 45 นาที เหลือ 2 วินาที)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8 จาก 12</a:t>
            </a:r>
          </a:p>
        </p:txBody>
      </p:sp>
      <p:pic>
        <p:nvPicPr>
          <p:cNvPr id="6" name="Picture 5" descr="screen_patient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303520" cy="3867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45920"/>
            <a:ext cx="515081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ตัวอย่างข้อความที่ระบบสร้างขึ้นอัตโนมัติ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Courier New"/>
              </a:defRPr>
            </a:pPr>
            <a:r>
              <a:t>🚨 [VEJTHANI CLINICAL EWS HANDOVER - ISBAR]</a:t>
            </a:r>
            <a:br/>
            <a:r>
              <a:t>• IDENTIFICATION: เตียง 701 | เพศ ชาย (อายุ 68 ปี) | ศูนย์กระดูกสันหลัง</a:t>
            </a:r>
            <a:br/>
            <a:r>
              <a:t>• SITUATION: คะแนน EWS = 7 (วิกฤต) | หลังผ่าตัดกระดูกสันหลัง L4-L5 TLIF Day 1</a:t>
            </a:r>
            <a:br/>
            <a:r>
              <a:t>• BACKGROUND: ความดันลดต่อเนื่อง เลือดออกในสาย Drain 250 ml ใน 2 ชม.</a:t>
            </a:r>
            <a:br/>
            <a:r>
              <a:t>• ASSESSMENT: BP 85/55 mmHg | HR 118 bpm | RR 24 | SpO2 93% | Shock Index = 1.39</a:t>
            </a:r>
            <a:br/>
            <a:r>
              <a:t>• CRITICAL ALERTS: [Spine] Shock Index = 1.39 (ภาวะช็อกจากการเสียเลือด)</a:t>
            </a:r>
            <a:br/>
            <a:r>
              <a:t>• RECOMMENDATION: Stage 3 Escalation: ขอแพทย์เฉพาะทางตรวจด่วน, NSS 1000 ml IV, จอง PRC 2 units</a:t>
            </a:r>
            <a:br/>
            <a:r>
              <a:t>• CONTACTS: Primary Nurse: พว. สมศรี (โทร 1401) | แพทย์: นพ. ชัยพร</a:t>
            </a:r>
          </a:p>
          <a:p>
            <a:pPr>
              <a:defRPr b="1" sz="1050">
                <a:solidFill>
                  <a:srgbClr val="EC7825"/>
                </a:solidFill>
              </a:defRPr>
            </a:pPr>
            <a:r>
              <a:t>✨ ประโยชน์: ครบถ้วนตามมาตรฐาน ISBAR ลด Human Error และประหยัดเวลา 2.5 ชม./วอร์ด/วัน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บันไดการยกระดับวิกฤต 4 ขั้นตามมาตรฐาน JCI (IPSG.2 Escalation Ladder)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9 จาก 12</a:t>
            </a:r>
          </a:p>
        </p:txBody>
      </p:sp>
      <p:pic>
        <p:nvPicPr>
          <p:cNvPr id="6" name="Picture 5" descr="screen_escalation_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</a:p>
          <a:p>
            <a:pPr>
              <a:defRPr b="1" sz="1200">
                <a:solidFill>
                  <a:srgbClr val="0D9488"/>
                </a:solidFill>
              </a:defRPr>
            </a:pPr>
            <a:r>
              <a:t>Stage 1: Primary Nurse (</a:t>
            </a:r>
            <a:r>
              <a:rPr b="1">
                <a:solidFill>
                  <a:srgbClr val="DC2626"/>
                </a:solidFill>
              </a:rPr>
              <a:t>SLA ≤ 3 นาที</a:t>
            </a:r>
            <a:r>
              <a:t>)
</a:t>
            </a:r>
            <a:r>
              <a:rPr sz="1000" b="0">
                <a:solidFill>
                  <a:srgbClr val="1E293B"/>
                </a:solidFill>
              </a:rPr>
              <a:t>พยาบาลเจ้าของไข้ถึงข้างเตียงทันที ตรวจสัญญาณชีพซ้ำ จัดท่านอน ให้ออกซิเจน และรายงานหัวหน้าเวร</a:t>
            </a:r>
          </a:p>
          <a:p>
            <a:pPr>
              <a:defRPr b="1" sz="1200">
                <a:solidFill>
                  <a:srgbClr val="EC7825"/>
                </a:solidFill>
              </a:defRPr>
            </a:pPr>
            <a:r>
              <a:t>Stage 2: In-Charge Nurse (</a:t>
            </a:r>
            <a:r>
              <a:rPr b="1">
                <a:solidFill>
                  <a:srgbClr val="DC2626"/>
                </a:solidFill>
              </a:rPr>
              <a:t>SLA ≤ 2 นาที</a:t>
            </a:r>
            <a:r>
              <a:t>)
</a:t>
            </a:r>
            <a:r>
              <a:rPr sz="1000" b="0">
                <a:solidFill>
                  <a:srgbClr val="1E293B"/>
                </a:solidFill>
              </a:rPr>
              <a:t>พยาบาลหัวหน้าเวรรุดเข้าช่วยเหลือ ประเมินอาการซ้ำ ยืนยันความเสี่ยง และโทรปรึกษาแพทย์เฉพาะทางประจำศูนย์</a:t>
            </a:r>
          </a:p>
          <a:p>
            <a:pPr>
              <a:defRPr b="1" sz="1200">
                <a:solidFill>
                  <a:srgbClr val="0B2545"/>
                </a:solidFill>
              </a:defRPr>
            </a:pPr>
            <a:r>
              <a:t>Stage 3: Specialist &amp; RRT (</a:t>
            </a:r>
            <a:r>
              <a:rPr b="1">
                <a:solidFill>
                  <a:srgbClr val="DC2626"/>
                </a:solidFill>
              </a:rPr>
              <a:t>SLA ≤ 10 นาที</a:t>
            </a:r>
            <a:r>
              <a:t>)
</a:t>
            </a:r>
            <a:r>
              <a:rPr sz="1000" b="0">
                <a:solidFill>
                  <a:srgbClr val="1E293B"/>
                </a:solidFill>
              </a:rPr>
              <a:t>แพทย์เฉพาะทางประจำศูนย์และทีมกู้ชีพ RRT ถึงข้างเตียง สั่งการรักษา Standing Orders และพิจารณาให้ยาฉุกเฉิน</a:t>
            </a:r>
          </a:p>
          <a:p>
            <a:pPr>
              <a:defRPr b="1" sz="1200">
                <a:solidFill>
                  <a:srgbClr val="DC2626"/>
                </a:solidFill>
              </a:defRPr>
            </a:pPr>
            <a:r>
              <a:t>Stage 4: ICU &amp; Hospital Leadership (</a:t>
            </a:r>
            <a:r>
              <a:rPr b="1">
                <a:solidFill>
                  <a:srgbClr val="DC2626"/>
                </a:solidFill>
              </a:rPr>
              <a:t>SLA ≤ 30 นาที</a:t>
            </a:r>
            <a:r>
              <a:t>)
</a:t>
            </a:r>
            <a:r>
              <a:rPr sz="1000" b="0">
                <a:solidFill>
                  <a:srgbClr val="1E293B"/>
                </a:solidFill>
              </a:rPr>
              <a:t>เตรียมย้ายผู้ป่วยเข้า ICU/CCU รายงานผู้บริหารทางการแพทย์ และบันทึก RCA Audit Trail ตามมาตรฐาน JCI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ระบบปรับจูนลดความล้าจากสัญญาณเตือน (Alarm Fatigue Mitigation Engine)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10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b="1" sz="1300">
                <a:solidFill>
                  <a:srgbClr val="0B2545"/>
                </a:solidFill>
              </a:defRPr>
            </a:pPr>
            <a:r>
              <a:t>หน้าต่างหน่วงเตือนซ้ำ (Suppression Window)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ตั้งค่าหน่วงเวลาเตือนซ้ำ 60 นาที (ปรับได้ 0-120 นาที)</a:t>
            </a:r>
            <a:br/>
            <a:r>
              <a:t>• หากผู้ป่วยตรวจวัดซ้ำแล้วคะแนนยังเท่าเดิม ระบบจะไม่ส่งเสียงเตือนซ้ำซ้อน</a:t>
            </a:r>
            <a:br/>
            <a:r>
              <a:t>• ช่วยให้พยาบาลมีสมาธิในการดูแลผู้ป่วยรายอื่น และลดเสียงรบกวนในวอร์ด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b="1" sz="1300">
                <a:solidFill>
                  <a:srgbClr val="EC7825"/>
                </a:solidFill>
              </a:defRPr>
            </a:pPr>
            <a:r>
              <a:t>กลไกปลดล็อกทันที (Delta Score Bypass)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หากคะแนน EWS ทรุดลงรวดเร็ว (Delta Score ≥ +2) หรือมี Single Parameter = 3</a:t>
            </a:r>
            <a:br/>
            <a:r>
              <a:t>• ระบบจะทำการ Bypass ปลดล็อกเสียงเตือนสีแดงทันทีแม้จะยังอยู่ในหน้าต่างหน่วงเวลา</a:t>
            </a:r>
            <a:br/>
            <a:r>
              <a:t>• รับประกันความปลอดภัยสูงสุด: Zero Missed Critical Case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2900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เครื่องมือจำลองเวรย้อนหลัง (Shift Simulation)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──────────────</a:t>
            </a:r>
          </a:p>
          <a:p>
            <a:pPr>
              <a:lnSpc>
                <a:spcPct val="135000"/>
              </a:lnSpc>
              <a:defRPr sz="1150">
                <a:solidFill>
                  <a:srgbClr val="1E293B"/>
                </a:solidFill>
              </a:defRPr>
            </a:pPr>
            <a:r>
              <a:t>• สามารถจำลองปริมาณสัญญาณเตือนย้อนหลังตาม 3 เวร (เช้า/บ่าย/ดึก) และรายศูนย์</a:t>
            </a:r>
            <a:br/>
            <a:r>
              <a:t>• พยาบาลหัวหน้าเวรสามารถทดสอบจูน Threshold และเห็นผลลัพธ์การลดสัญญาณเตือนก่อนใช้จริง</a:t>
            </a:r>
            <a:br/>
            <a:r>
              <a:t>• ลดการแจ้งเตือนรบกวนได้จริง 40% - 60%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สถาปัตยกรรมระบบ ความปลอดภัยข้อมูล PDPA และความพร้อมเชื่อมต่อ EHR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11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b="1" sz="1300">
                <a:solidFill>
                  <a:srgbClr val="0B2545"/>
                </a:solidFill>
              </a:defRPr>
            </a:pPr>
            <a:r>
              <a:t>🔒 Local-First Client-Side Architecture (Zero PDPA Leakage)</a:t>
            </a:r>
          </a:p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ระบบทำงานภายในเว็บเบราว์เซอร์ของอุปกรณ์ผู้ใช้ 100% ไม่มีการส่งข้อมูลสัญญาณชีพหรือประวัติการรักษาออกนอกเครื่อง มีระบบ De-identification ตัดชื่อ-สกุล และเลขประจำตัวผู้ป่วย (No HN) ออกก่อนแสดงผลเสมอ สอดคล้องตาม พ.ร.บ. คุ้มครองข้อมูลส่วนบุคคล พ.ศ. 2562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b="1" sz="1300">
                <a:solidFill>
                  <a:srgbClr val="EC7825"/>
                </a:solidFill>
              </a:defRPr>
            </a:pPr>
            <a:r>
              <a:t>⚡ Single-File Portable Deployment</a:t>
            </a:r>
          </a:p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สามารถเปิดใช้งานผ่าน Google Chrome, Safari หรือ Edge ได้ทันทีโดยไม่ต้องติดตั้งเว็บเซิร์ฟเวอร์หรือฐานข้อมูลเพิ่มเติมในเครื่อง ลดภาระงานดูแลระบบของฝ่ายไอที และสามารถทำงานได้แม้ระบบอินเทอร์เน็ตภายนอกขัดข้อง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b="1" sz="1300">
                <a:solidFill>
                  <a:srgbClr val="0B2545"/>
                </a:solidFill>
              </a:defRPr>
            </a:pPr>
            <a:r>
              <a:t>🔄 InterSystems TrakCare &amp; HL7 FHIR v4 Readiness</a:t>
            </a:r>
          </a:p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มีโครงสร้างข้อมูลรองรับการส่งออก Payload มาตรฐาน HL7 FHIR v4 Observation / Flag Resource และ LINE Flex Message พร้อมสำหรับการเชื่อมต่อเข้ากับระบบ TrakCare Flowsheet ในเฟสถัดไปได้อย่างไร้รอยต่อ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C7825"/>
                </a:solidFill>
                <a:latin typeface="Arial"/>
              </a:defRPr>
            </a:pPr>
            <a:r>
              <a:t>VEJTHANI CLINICAL EWS - EXECUTIVE BRIEFING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การทดสอบรับรองทางคลินิก และแผนการดำเนินงาน (Rollout Roadmap)</a:t>
            </a:r>
          </a:p>
        </p:txBody>
      </p:sp>
      <p:pic>
        <p:nvPicPr>
          <p:cNvPr id="3" name="Picture 2" descr="vejth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5989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EC7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โรงพยาบาลเวชธานี (Vejthani Hospital) | มาตรฐานสากล JCI 7th Edition &amp; CCPC | หน้า 12 จาก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389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b="1" sz="1800">
                <a:solidFill>
                  <a:srgbClr val="0D9488"/>
                </a:solidFill>
              </a:defRPr>
            </a:pPr>
            <a:r>
              <a:t>✔ 100% CLINICAL PASS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ผ่านการทดสอบ 55 / 55 Test Cases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NEWS2 ผู้ใหญ่ &amp; PEWS เด็ก 4 ช่วงอายุ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กฎความผิดปกติ 6 ศูนย์การรักษาเฉพาะทาง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Single-Parameter Extreme Rule (คะแนน 3)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กลไกหน่วงเวลาเตือนซ้ำ และ Delta Bypass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การตรวจจับภาวะช็อก (Shock Index ≥ 0.9)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การทดสอบทั้งในหน้าเว็บ และ Command-Line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6339535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7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500">
                <a:solidFill>
                  <a:srgbClr val="EC7825"/>
                </a:solidFill>
              </a:defRPr>
            </a:pPr>
            <a:r>
              <a:t>แผนการติดตั้งและขยายผล (Implementation Roadmap)</a:t>
            </a:r>
          </a:p>
          <a:p>
            <a:pPr>
              <a:defRPr b="1" sz="1200">
                <a:solidFill>
                  <a:srgbClr val="0B2545"/>
                </a:solidFill>
              </a:defRPr>
            </a:pPr>
            <a:r>
              <a:t>ระยะที่ 1: นำร่อง (Pilot Phase - 1 เดือน)</a:t>
            </a:r>
            <a:br/>
            <a:r>
              <a:rPr sz="1100">
                <a:solidFill>
                  <a:srgbClr val="1E293B"/>
                </a:solidFill>
              </a:rPr>
              <a:t>ติดตั้งใช้งานที่วอร์ดกระดูกสันหลัง (Spine Ward) และวอร์ดอายุรกรรม พร้อมอบรมพยาบาลแกนนำและเก็บสถิติ</a:t>
            </a:r>
          </a:p>
          <a:p>
            <a:pPr>
              <a:defRPr b="1" sz="1200">
                <a:solidFill>
                  <a:srgbClr val="0B2545"/>
                </a:solidFill>
              </a:defRPr>
            </a:pPr>
            <a:r>
              <a:t>ระยะที่ 2: ขยายผลทั่วทั้งโรงพยาบาล (Hospital-Wide Rollout - 2 เดือน)</a:t>
            </a:r>
            <a:br/>
            <a:r>
              <a:rPr sz="1100">
                <a:solidFill>
                  <a:srgbClr val="1E293B"/>
                </a:solidFill>
              </a:rPr>
              <a:t>ขยายผลครอบคลุมทุกหอผู้ป่วยใน (IPD Wards) ทั้ง 6 ศูนย์การรักษา และเชื่อมโยงเข้ากับระบบส่งเวรประจำวัน</a:t>
            </a:r>
          </a:p>
          <a:p>
            <a:pPr>
              <a:defRPr b="1" sz="1200">
                <a:solidFill>
                  <a:srgbClr val="0B2545"/>
                </a:solidFill>
              </a:defRPr>
            </a:pPr>
            <a:r>
              <a:t>ระยะที่ 3: เชื่อมต่ออัตโนมัติ (Automated EHR Integration - 3 เดือน)</a:t>
            </a:r>
            <a:br/>
            <a:r>
              <a:rPr sz="1100">
                <a:solidFill>
                  <a:srgbClr val="1E293B"/>
                </a:solidFill>
              </a:rPr>
              <a:t>ประสานงานฝ่าย IT และ InterSystems เพื่อดึงข้อมูลสัญญาณชีพจาก TrakCare Flowsheet อัตโนมัติผ่าน FHIR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